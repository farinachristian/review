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9A775A-C7DF-479F-8BF1-F0E75CD17CFD}" type="datetimeFigureOut">
              <a:rPr lang="it-IT" smtClean="0"/>
              <a:t>09/12/2025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525B96-E54A-455D-BE1A-64EE7E619DB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769421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525B96-E54A-455D-BE1A-64EE7E619DBA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508178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5151767-3141-498F-D422-3C901427CE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695B5D28-96B2-47DE-7A67-E5FFD6FD8D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024B37A-F9D2-01A0-DF91-C5C964339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42021-04B7-4816-AB41-C56A7E0D17F0}" type="datetimeFigureOut">
              <a:rPr lang="it-IT" smtClean="0"/>
              <a:t>09/12/2025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B08C6FC-8164-F06C-7915-65337911A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4B4110C-46B5-ECFC-4EB1-B02C9D772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AA4C1-BFBE-401C-AB8C-940C1977BB2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64370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8800CED-E0A1-29A4-72D0-C436D065A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4AD0C4F-29D4-AAD6-6908-A648096554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5B46EF0-4636-DB85-AB5A-DA1D54380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42021-04B7-4816-AB41-C56A7E0D17F0}" type="datetimeFigureOut">
              <a:rPr lang="it-IT" smtClean="0"/>
              <a:t>09/12/2025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CF2598E-E467-9E21-B087-40AB3DC22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A8DB5ED-50D1-071D-CCA2-2E66A4F56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AA4C1-BFBE-401C-AB8C-940C1977BB2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41176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427A8BA-CAD4-E464-29E6-0057C7CA0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A7F1E05-2439-6055-815E-88B3854597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FA479AB-6E97-0AD7-B14E-1F695C463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42021-04B7-4816-AB41-C56A7E0D17F0}" type="datetimeFigureOut">
              <a:rPr lang="it-IT" smtClean="0"/>
              <a:t>09/12/2025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DA498BB-8767-515D-0D1F-7DD7E9C66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0ED82DA-7337-85FD-A1D9-9DCFEE8FA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AA4C1-BFBE-401C-AB8C-940C1977BB2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060284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C05187B-EEC8-C743-2322-98757CD10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D2E235F-113B-5B0A-067F-11030DACC4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27251AE-0E75-511D-29EF-881A7CE7F7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FE09BC6-3C43-5C4A-33AC-73084517E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42021-04B7-4816-AB41-C56A7E0D17F0}" type="datetimeFigureOut">
              <a:rPr lang="it-IT" smtClean="0"/>
              <a:t>09/12/2025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6B3B983-57B9-8FDF-2946-BBE267961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7AA8E30-06B7-4B7A-965E-CD1520D8C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AA4C1-BFBE-401C-AB8C-940C1977BB2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78115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334C1AF-563F-1CCE-218D-B77A24494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5D38E8B-B841-CCFA-CBA0-2DA14A7778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C55D2E7E-3AE5-E123-678D-52DF4DCAA9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892912B4-8DD1-DA32-56F1-08F34F7847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F68A3BB9-5154-11F3-7E20-D0B70CDBE8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76E45969-99F5-DA7D-D132-63F9E27CE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42021-04B7-4816-AB41-C56A7E0D17F0}" type="datetimeFigureOut">
              <a:rPr lang="it-IT" smtClean="0"/>
              <a:t>09/12/2025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740BA50C-E09D-8C71-426F-DD658E796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5FE71C57-B030-540B-E46B-19681B24B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AA4C1-BFBE-401C-AB8C-940C1977BB2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41756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8003561-FA9A-9314-2707-EB5E7EEF4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A2746349-C02F-EF40-4FCD-F5F96FC3A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42021-04B7-4816-AB41-C56A7E0D17F0}" type="datetimeFigureOut">
              <a:rPr lang="it-IT" smtClean="0"/>
              <a:t>09/12/2025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F4247536-C082-BBE4-FC21-55EBBFE75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6D9D43F0-0DBE-D92A-25FF-C98259BCD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AA4C1-BFBE-401C-AB8C-940C1977BB2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48989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5DE2168A-18E5-D129-D917-CEC574888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42021-04B7-4816-AB41-C56A7E0D17F0}" type="datetimeFigureOut">
              <a:rPr lang="it-IT" smtClean="0"/>
              <a:t>09/12/2025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F9F9C69C-7F6F-66D7-A310-F513A8242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EBEFC4C-7D11-7995-20A0-B43513AC7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AA4C1-BFBE-401C-AB8C-940C1977BB2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197594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1A3BAFF-A2FC-E7E2-A4BF-4CE03915F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52D28DB-03D5-FE54-BC4D-A170DD69BA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AF9B1D7D-D334-AF13-E2C4-ED28779630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57CE525-E713-3C21-F4B4-F0303FCB0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42021-04B7-4816-AB41-C56A7E0D17F0}" type="datetimeFigureOut">
              <a:rPr lang="it-IT" smtClean="0"/>
              <a:t>09/12/2025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FFA65D23-52EA-2502-537F-7D5A6DFA8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CD83059-FF2F-0CF4-CD10-AEDD05F8C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AA4C1-BFBE-401C-AB8C-940C1977BB2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59995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3F2229-1C06-5D8B-7BC3-76D808AAF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53A5B004-F9EA-442E-EBCC-8759CC1418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444EFC3-0E56-60E8-5E59-B2FAE86B36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AD46122-ABE2-4521-D32E-15C918106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42021-04B7-4816-AB41-C56A7E0D17F0}" type="datetimeFigureOut">
              <a:rPr lang="it-IT" smtClean="0"/>
              <a:t>09/12/2025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0B94A26-E25A-716A-03FC-FBB62DDB0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F09DE27-4B79-14E5-2BC5-33F1BEB69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AA4C1-BFBE-401C-AB8C-940C1977BB2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65620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E421B77-A4F9-23C8-1A82-DB684A884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22491044-97B1-A727-D291-7743275D3A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47546FE-7BA7-4F34-7E0C-043214CE8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42021-04B7-4816-AB41-C56A7E0D17F0}" type="datetimeFigureOut">
              <a:rPr lang="it-IT" smtClean="0"/>
              <a:t>09/12/2025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8955C86-D395-95BD-05B6-7D3B039FD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0539AC9-9E61-D5DC-8F81-A651E2BEC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AA4C1-BFBE-401C-AB8C-940C1977BB2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44345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BC0366F9-AF86-708A-9F0F-A491D79F6D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CCD441A2-341C-C53A-FF4D-EFC3829E14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C713C16-2D5B-1A19-A53B-3BAC9B777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42021-04B7-4816-AB41-C56A7E0D17F0}" type="datetimeFigureOut">
              <a:rPr lang="it-IT" smtClean="0"/>
              <a:t>09/12/2025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35109D8-54FC-3648-C678-1375C4512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8A0850E-A44F-214E-79BB-7FD7FD47F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AA4C1-BFBE-401C-AB8C-940C1977BB2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05971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EA4231BC-20F7-CA3F-5C06-CC06871F1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90CD02F-77F6-A2AF-04B7-43D1E886E6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66B8AD7-3CB8-D96B-6E53-6E109204A7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042021-04B7-4816-AB41-C56A7E0D17F0}" type="datetimeFigureOut">
              <a:rPr lang="it-IT" smtClean="0"/>
              <a:t>09/12/2025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B70F20F-5809-20D5-A82A-9EAE791473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5E5E71F-412E-A8EF-4DFE-57726BAF09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AAA4C1-BFBE-401C-AB8C-940C1977BB2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30301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B473483-7AB4-EA97-DB8C-3245FFDE7D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 err="1"/>
              <a:t>Algorithms</a:t>
            </a:r>
            <a:r>
              <a:rPr lang="it-IT" dirty="0"/>
              <a:t> for the survey</a:t>
            </a:r>
          </a:p>
        </p:txBody>
      </p:sp>
    </p:spTree>
    <p:extLst>
      <p:ext uri="{BB962C8B-B14F-4D97-AF65-F5344CB8AC3E}">
        <p14:creationId xmlns:p14="http://schemas.microsoft.com/office/powerpoint/2010/main" val="2728020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CC6C070-9697-3055-D363-41C5409B3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it-IT" dirty="0"/>
            </a:br>
            <a:r>
              <a:rPr lang="en-US" dirty="0"/>
              <a:t>Detection of vital signs based on millimeter wave radar</a:t>
            </a:r>
            <a:br>
              <a:rPr lang="it-IT" dirty="0"/>
            </a:br>
            <a:endParaRPr lang="it-IT" dirty="0"/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841CCD8D-BCF0-A003-BA41-FD2F42EBE4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3020" y="2143660"/>
            <a:ext cx="8125959" cy="3715268"/>
          </a:xfrm>
        </p:spPr>
      </p:pic>
    </p:spTree>
    <p:extLst>
      <p:ext uri="{BB962C8B-B14F-4D97-AF65-F5344CB8AC3E}">
        <p14:creationId xmlns:p14="http://schemas.microsoft.com/office/powerpoint/2010/main" val="1174846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1974523-C3FA-9778-22F8-B3D225F42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FMCW Millimeter-Wave Radar-Based Remote Monitoring of Vital Signs in Multiple Subjects</a:t>
            </a:r>
            <a:endParaRPr lang="it-IT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FEB34942-1A4E-483A-3517-AA11225243BC}"/>
              </a:ext>
            </a:extLst>
          </p:cNvPr>
          <p:cNvSpPr txBox="1"/>
          <p:nvPr/>
        </p:nvSpPr>
        <p:spPr>
          <a:xfrm>
            <a:off x="9219961" y="2808939"/>
            <a:ext cx="20162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/>
              <a:t>MUSIC for BR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07132303-69EC-C202-E0B1-987EDB26C843}"/>
              </a:ext>
            </a:extLst>
          </p:cNvPr>
          <p:cNvSpPr txBox="1"/>
          <p:nvPr/>
        </p:nvSpPr>
        <p:spPr>
          <a:xfrm>
            <a:off x="7019306" y="2652045"/>
            <a:ext cx="17145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/>
              <a:t>IIR filter</a:t>
            </a:r>
          </a:p>
          <a:p>
            <a:r>
              <a:rPr lang="it-IT" sz="2400" dirty="0"/>
              <a:t>0.1-0.5 Hz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10DA578D-4A09-C029-6A97-352F16DD220F}"/>
              </a:ext>
            </a:extLst>
          </p:cNvPr>
          <p:cNvSpPr txBox="1"/>
          <p:nvPr/>
        </p:nvSpPr>
        <p:spPr>
          <a:xfrm>
            <a:off x="9219961" y="3880510"/>
            <a:ext cx="201625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/>
              <a:t>2DFFT for HR</a:t>
            </a:r>
          </a:p>
          <a:p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E9B10B7D-4008-DA64-D526-CFC19093CFEC}"/>
              </a:ext>
            </a:extLst>
          </p:cNvPr>
          <p:cNvSpPr txBox="1"/>
          <p:nvPr/>
        </p:nvSpPr>
        <p:spPr>
          <a:xfrm>
            <a:off x="7019306" y="3690204"/>
            <a:ext cx="17145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/>
              <a:t>IIR filter</a:t>
            </a:r>
          </a:p>
          <a:p>
            <a:r>
              <a:rPr lang="it-IT" sz="2400" dirty="0"/>
              <a:t>0.8-2 Hz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FB50E624-3087-A4E6-349E-F1C22947000E}"/>
              </a:ext>
            </a:extLst>
          </p:cNvPr>
          <p:cNvSpPr txBox="1"/>
          <p:nvPr/>
        </p:nvSpPr>
        <p:spPr>
          <a:xfrm>
            <a:off x="1630782" y="2167502"/>
            <a:ext cx="12974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dirty="0"/>
              <a:t>First FFT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21EBE8B0-D36C-0F84-6737-AE7099B83F97}"/>
              </a:ext>
            </a:extLst>
          </p:cNvPr>
          <p:cNvSpPr txBox="1"/>
          <p:nvPr/>
        </p:nvSpPr>
        <p:spPr>
          <a:xfrm>
            <a:off x="810820" y="2972821"/>
            <a:ext cx="31971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dirty="0" err="1"/>
              <a:t>Identify</a:t>
            </a:r>
            <a:r>
              <a:rPr lang="it-IT" sz="2400" dirty="0"/>
              <a:t> </a:t>
            </a:r>
            <a:r>
              <a:rPr lang="it-IT" sz="2400" dirty="0" err="1"/>
              <a:t>peaks</a:t>
            </a:r>
            <a:r>
              <a:rPr lang="it-IT" sz="2400" dirty="0"/>
              <a:t> (people)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D18156B3-E941-E136-C450-A7653C4D2DA3}"/>
              </a:ext>
            </a:extLst>
          </p:cNvPr>
          <p:cNvSpPr txBox="1"/>
          <p:nvPr/>
        </p:nvSpPr>
        <p:spPr>
          <a:xfrm>
            <a:off x="1284468" y="3929698"/>
            <a:ext cx="19900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dirty="0" err="1"/>
              <a:t>Extract</a:t>
            </a:r>
            <a:r>
              <a:rPr lang="it-IT" sz="2400" dirty="0"/>
              <a:t> </a:t>
            </a:r>
            <a:r>
              <a:rPr lang="it-IT" sz="2400" dirty="0" err="1"/>
              <a:t>phase</a:t>
            </a:r>
            <a:endParaRPr lang="it-IT" sz="2400" dirty="0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71AEBAD8-515E-305C-AD24-A754E9CDA88D}"/>
              </a:ext>
            </a:extLst>
          </p:cNvPr>
          <p:cNvSpPr txBox="1"/>
          <p:nvPr/>
        </p:nvSpPr>
        <p:spPr>
          <a:xfrm>
            <a:off x="930307" y="5713376"/>
            <a:ext cx="29198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dirty="0"/>
              <a:t>Sliding </a:t>
            </a:r>
            <a:r>
              <a:rPr lang="it-IT" sz="2400" dirty="0" err="1"/>
              <a:t>Average</a:t>
            </a:r>
            <a:r>
              <a:rPr lang="it-IT" sz="2400" dirty="0"/>
              <a:t> Filter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96446B96-0F74-1515-7289-8293B131DA47}"/>
              </a:ext>
            </a:extLst>
          </p:cNvPr>
          <p:cNvSpPr txBox="1"/>
          <p:nvPr/>
        </p:nvSpPr>
        <p:spPr>
          <a:xfrm>
            <a:off x="810820" y="4860778"/>
            <a:ext cx="31588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 err="1"/>
              <a:t>Unwrap</a:t>
            </a:r>
            <a:r>
              <a:rPr lang="it-IT" sz="2400" dirty="0"/>
              <a:t> and </a:t>
            </a:r>
            <a:r>
              <a:rPr lang="it-IT" sz="2400" dirty="0" err="1"/>
              <a:t>phase</a:t>
            </a:r>
            <a:r>
              <a:rPr lang="it-IT" sz="2400" dirty="0"/>
              <a:t> diff</a:t>
            </a:r>
          </a:p>
        </p:txBody>
      </p:sp>
      <p:cxnSp>
        <p:nvCxnSpPr>
          <p:cNvPr id="16" name="Connettore 2 15">
            <a:extLst>
              <a:ext uri="{FF2B5EF4-FFF2-40B4-BE49-F238E27FC236}">
                <a16:creationId xmlns:a16="http://schemas.microsoft.com/office/drawing/2014/main" id="{B7FFE155-337C-5457-3E8A-D10AEAE88977}"/>
              </a:ext>
            </a:extLst>
          </p:cNvPr>
          <p:cNvCxnSpPr>
            <a:cxnSpLocks/>
          </p:cNvCxnSpPr>
          <p:nvPr/>
        </p:nvCxnSpPr>
        <p:spPr>
          <a:xfrm>
            <a:off x="2279518" y="2589483"/>
            <a:ext cx="0" cy="4389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FE528C7B-4DC5-BA1A-F1A8-A56A3DAC1031}"/>
              </a:ext>
            </a:extLst>
          </p:cNvPr>
          <p:cNvCxnSpPr>
            <a:cxnSpLocks/>
          </p:cNvCxnSpPr>
          <p:nvPr/>
        </p:nvCxnSpPr>
        <p:spPr>
          <a:xfrm>
            <a:off x="2279519" y="3513472"/>
            <a:ext cx="0" cy="4389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ttore 2 19">
            <a:extLst>
              <a:ext uri="{FF2B5EF4-FFF2-40B4-BE49-F238E27FC236}">
                <a16:creationId xmlns:a16="http://schemas.microsoft.com/office/drawing/2014/main" id="{FF65509A-B6C4-FB03-1934-C24B1A548E97}"/>
              </a:ext>
            </a:extLst>
          </p:cNvPr>
          <p:cNvCxnSpPr>
            <a:cxnSpLocks/>
          </p:cNvCxnSpPr>
          <p:nvPr/>
        </p:nvCxnSpPr>
        <p:spPr>
          <a:xfrm>
            <a:off x="2270375" y="4461550"/>
            <a:ext cx="0" cy="4389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ttore 2 20">
            <a:extLst>
              <a:ext uri="{FF2B5EF4-FFF2-40B4-BE49-F238E27FC236}">
                <a16:creationId xmlns:a16="http://schemas.microsoft.com/office/drawing/2014/main" id="{5FEEBAFE-DA39-262E-B4D4-0D2F5CD834CF}"/>
              </a:ext>
            </a:extLst>
          </p:cNvPr>
          <p:cNvCxnSpPr>
            <a:cxnSpLocks/>
          </p:cNvCxnSpPr>
          <p:nvPr/>
        </p:nvCxnSpPr>
        <p:spPr>
          <a:xfrm>
            <a:off x="2282129" y="5322443"/>
            <a:ext cx="0" cy="4389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ttore a gomito 22">
            <a:extLst>
              <a:ext uri="{FF2B5EF4-FFF2-40B4-BE49-F238E27FC236}">
                <a16:creationId xmlns:a16="http://schemas.microsoft.com/office/drawing/2014/main" id="{E4DE570E-4FB4-A32E-F52D-A6084EB2AA14}"/>
              </a:ext>
            </a:extLst>
          </p:cNvPr>
          <p:cNvCxnSpPr>
            <a:cxnSpLocks/>
          </p:cNvCxnSpPr>
          <p:nvPr/>
        </p:nvCxnSpPr>
        <p:spPr>
          <a:xfrm flipV="1">
            <a:off x="3949640" y="3586624"/>
            <a:ext cx="2394591" cy="2393552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ttore diritto 31">
            <a:extLst>
              <a:ext uri="{FF2B5EF4-FFF2-40B4-BE49-F238E27FC236}">
                <a16:creationId xmlns:a16="http://schemas.microsoft.com/office/drawing/2014/main" id="{A26D4B87-2F38-1ED7-1689-EB6143C58C34}"/>
              </a:ext>
            </a:extLst>
          </p:cNvPr>
          <p:cNvCxnSpPr>
            <a:cxnSpLocks/>
          </p:cNvCxnSpPr>
          <p:nvPr/>
        </p:nvCxnSpPr>
        <p:spPr>
          <a:xfrm flipV="1">
            <a:off x="6342526" y="3067544"/>
            <a:ext cx="0" cy="103815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ttore 2 34">
            <a:extLst>
              <a:ext uri="{FF2B5EF4-FFF2-40B4-BE49-F238E27FC236}">
                <a16:creationId xmlns:a16="http://schemas.microsoft.com/office/drawing/2014/main" id="{38F1D879-7753-935F-46D8-DC3BF4B07DE5}"/>
              </a:ext>
            </a:extLst>
          </p:cNvPr>
          <p:cNvCxnSpPr/>
          <p:nvPr/>
        </p:nvCxnSpPr>
        <p:spPr>
          <a:xfrm>
            <a:off x="6342526" y="3067544"/>
            <a:ext cx="5212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ttore 2 35">
            <a:extLst>
              <a:ext uri="{FF2B5EF4-FFF2-40B4-BE49-F238E27FC236}">
                <a16:creationId xmlns:a16="http://schemas.microsoft.com/office/drawing/2014/main" id="{41EBB2AA-B0FE-0411-8628-ED0526C07867}"/>
              </a:ext>
            </a:extLst>
          </p:cNvPr>
          <p:cNvCxnSpPr/>
          <p:nvPr/>
        </p:nvCxnSpPr>
        <p:spPr>
          <a:xfrm>
            <a:off x="6342526" y="4105703"/>
            <a:ext cx="5212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ttore 2 36">
            <a:extLst>
              <a:ext uri="{FF2B5EF4-FFF2-40B4-BE49-F238E27FC236}">
                <a16:creationId xmlns:a16="http://schemas.microsoft.com/office/drawing/2014/main" id="{A7764BE7-BF69-C23C-39C3-8A4457AA4499}"/>
              </a:ext>
            </a:extLst>
          </p:cNvPr>
          <p:cNvCxnSpPr/>
          <p:nvPr/>
        </p:nvCxnSpPr>
        <p:spPr>
          <a:xfrm>
            <a:off x="8625478" y="3067543"/>
            <a:ext cx="5212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ttore 2 37">
            <a:extLst>
              <a:ext uri="{FF2B5EF4-FFF2-40B4-BE49-F238E27FC236}">
                <a16:creationId xmlns:a16="http://schemas.microsoft.com/office/drawing/2014/main" id="{D1E9FABD-B0BA-EF48-883F-00921CD1A2C8}"/>
              </a:ext>
            </a:extLst>
          </p:cNvPr>
          <p:cNvCxnSpPr/>
          <p:nvPr/>
        </p:nvCxnSpPr>
        <p:spPr>
          <a:xfrm>
            <a:off x="8669312" y="4105702"/>
            <a:ext cx="5212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10414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6AA98A4-5093-CDF4-BCB9-AE87FF5DB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 high precision vital signs detection method based on millimeter wave radar</a:t>
            </a:r>
            <a:endParaRPr lang="it-IT" dirty="0"/>
          </a:p>
        </p:txBody>
      </p:sp>
      <p:pic>
        <p:nvPicPr>
          <p:cNvPr id="5" name="Segnaposto contenuto 4" descr="Immagine che contiene testo, schermata, diagramma, Carattere&#10;&#10;Il contenuto generato dall'IA potrebbe non essere corretto.">
            <a:extLst>
              <a:ext uri="{FF2B5EF4-FFF2-40B4-BE49-F238E27FC236}">
                <a16:creationId xmlns:a16="http://schemas.microsoft.com/office/drawing/2014/main" id="{1C7DC838-4A49-49B8-553A-38BF43A52E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6266" y="1917065"/>
            <a:ext cx="4979467" cy="4667250"/>
          </a:xfrm>
        </p:spPr>
      </p:pic>
    </p:spTree>
    <p:extLst>
      <p:ext uri="{BB962C8B-B14F-4D97-AF65-F5344CB8AC3E}">
        <p14:creationId xmlns:p14="http://schemas.microsoft.com/office/powerpoint/2010/main" val="25953486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E0CAE5E-9EA9-87CA-36A2-30F882293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RF Vital Sign Sensing under Free Body Movement (only static)</a:t>
            </a:r>
            <a:endParaRPr lang="it-IT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C77C9F31-14A5-FBCE-BF7A-AADF6B30D925}"/>
              </a:ext>
            </a:extLst>
          </p:cNvPr>
          <p:cNvSpPr txBox="1"/>
          <p:nvPr/>
        </p:nvSpPr>
        <p:spPr>
          <a:xfrm>
            <a:off x="9562917" y="2671648"/>
            <a:ext cx="20162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/>
              <a:t>FFT and </a:t>
            </a:r>
            <a:r>
              <a:rPr lang="it-IT" sz="2400" dirty="0" err="1"/>
              <a:t>get</a:t>
            </a:r>
            <a:r>
              <a:rPr lang="it-IT" sz="2400" dirty="0"/>
              <a:t> </a:t>
            </a:r>
            <a:r>
              <a:rPr lang="it-IT" sz="2400" dirty="0" err="1"/>
              <a:t>highest</a:t>
            </a:r>
            <a:r>
              <a:rPr lang="it-IT" sz="2400" dirty="0"/>
              <a:t> </a:t>
            </a:r>
            <a:r>
              <a:rPr lang="it-IT" sz="2400" dirty="0" err="1"/>
              <a:t>peak</a:t>
            </a:r>
            <a:endParaRPr lang="it-IT" sz="2400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600E8E69-5B99-AA5A-1F40-31DBF250287B}"/>
              </a:ext>
            </a:extLst>
          </p:cNvPr>
          <p:cNvSpPr txBox="1"/>
          <p:nvPr/>
        </p:nvSpPr>
        <p:spPr>
          <a:xfrm>
            <a:off x="6596853" y="2856211"/>
            <a:ext cx="22892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/>
              <a:t>Band-pass filter</a:t>
            </a:r>
          </a:p>
          <a:p>
            <a:r>
              <a:rPr lang="it-IT" sz="2400" dirty="0"/>
              <a:t>0.1-0.5 Hz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780B4134-F834-DC17-202B-004940E86324}"/>
              </a:ext>
            </a:extLst>
          </p:cNvPr>
          <p:cNvSpPr txBox="1"/>
          <p:nvPr/>
        </p:nvSpPr>
        <p:spPr>
          <a:xfrm>
            <a:off x="9562917" y="3702828"/>
            <a:ext cx="201625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/>
              <a:t>FFT and </a:t>
            </a:r>
            <a:r>
              <a:rPr lang="it-IT" sz="2400" dirty="0" err="1"/>
              <a:t>get</a:t>
            </a:r>
            <a:r>
              <a:rPr lang="it-IT" sz="2400" dirty="0"/>
              <a:t> </a:t>
            </a:r>
            <a:r>
              <a:rPr lang="it-IT" sz="2400" dirty="0" err="1"/>
              <a:t>highest</a:t>
            </a:r>
            <a:r>
              <a:rPr lang="it-IT" sz="2400" dirty="0"/>
              <a:t> </a:t>
            </a:r>
            <a:r>
              <a:rPr lang="it-IT" sz="2400" dirty="0" err="1"/>
              <a:t>peak</a:t>
            </a:r>
            <a:endParaRPr lang="it-IT" sz="2400" dirty="0"/>
          </a:p>
          <a:p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16628424-1E9C-ECC5-34B0-3EDEBA385C30}"/>
              </a:ext>
            </a:extLst>
          </p:cNvPr>
          <p:cNvSpPr txBox="1"/>
          <p:nvPr/>
        </p:nvSpPr>
        <p:spPr>
          <a:xfrm>
            <a:off x="6596853" y="3894370"/>
            <a:ext cx="23945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/>
              <a:t>Band-pass filter</a:t>
            </a:r>
          </a:p>
          <a:p>
            <a:r>
              <a:rPr lang="it-IT" sz="2400" dirty="0"/>
              <a:t>0.8-2 Hz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1E972BDB-599B-B104-060F-497C3BC345C8}"/>
              </a:ext>
            </a:extLst>
          </p:cNvPr>
          <p:cNvSpPr txBox="1"/>
          <p:nvPr/>
        </p:nvSpPr>
        <p:spPr>
          <a:xfrm>
            <a:off x="2070506" y="2313806"/>
            <a:ext cx="12974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dirty="0"/>
              <a:t>First FFT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0C180120-A9FA-233E-3238-873393F0946C}"/>
              </a:ext>
            </a:extLst>
          </p:cNvPr>
          <p:cNvSpPr txBox="1"/>
          <p:nvPr/>
        </p:nvSpPr>
        <p:spPr>
          <a:xfrm>
            <a:off x="1250544" y="3119125"/>
            <a:ext cx="31971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dirty="0" err="1"/>
              <a:t>Identify</a:t>
            </a:r>
            <a:r>
              <a:rPr lang="it-IT" sz="2400" dirty="0"/>
              <a:t> </a:t>
            </a:r>
            <a:r>
              <a:rPr lang="it-IT" sz="2400" dirty="0" err="1"/>
              <a:t>peaks</a:t>
            </a:r>
            <a:r>
              <a:rPr lang="it-IT" sz="2400" dirty="0"/>
              <a:t> (people)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05FE3FD1-A573-7A89-0093-FF575BCF869C}"/>
              </a:ext>
            </a:extLst>
          </p:cNvPr>
          <p:cNvSpPr txBox="1"/>
          <p:nvPr/>
        </p:nvSpPr>
        <p:spPr>
          <a:xfrm>
            <a:off x="1724192" y="4076002"/>
            <a:ext cx="19900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dirty="0" err="1"/>
              <a:t>Extract</a:t>
            </a:r>
            <a:r>
              <a:rPr lang="it-IT" sz="2400" dirty="0"/>
              <a:t> </a:t>
            </a:r>
            <a:r>
              <a:rPr lang="it-IT" sz="2400" dirty="0" err="1"/>
              <a:t>phase</a:t>
            </a:r>
            <a:endParaRPr lang="it-IT" sz="2400" dirty="0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1C0D6029-F62A-4485-AB10-68ADBC61D701}"/>
              </a:ext>
            </a:extLst>
          </p:cNvPr>
          <p:cNvSpPr txBox="1"/>
          <p:nvPr/>
        </p:nvSpPr>
        <p:spPr>
          <a:xfrm>
            <a:off x="1250544" y="5007082"/>
            <a:ext cx="31588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 err="1"/>
              <a:t>Unwrap</a:t>
            </a:r>
            <a:r>
              <a:rPr lang="it-IT" sz="2400" dirty="0"/>
              <a:t> and </a:t>
            </a:r>
            <a:r>
              <a:rPr lang="it-IT" sz="2400" dirty="0" err="1"/>
              <a:t>phase</a:t>
            </a:r>
            <a:r>
              <a:rPr lang="it-IT" sz="2400" dirty="0"/>
              <a:t> diff</a:t>
            </a:r>
          </a:p>
        </p:txBody>
      </p: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516C236D-F515-6FE4-9D5B-A7A920A6668E}"/>
              </a:ext>
            </a:extLst>
          </p:cNvPr>
          <p:cNvCxnSpPr>
            <a:cxnSpLocks/>
          </p:cNvCxnSpPr>
          <p:nvPr/>
        </p:nvCxnSpPr>
        <p:spPr>
          <a:xfrm>
            <a:off x="2719242" y="2735787"/>
            <a:ext cx="0" cy="4389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ttore 2 13">
            <a:extLst>
              <a:ext uri="{FF2B5EF4-FFF2-40B4-BE49-F238E27FC236}">
                <a16:creationId xmlns:a16="http://schemas.microsoft.com/office/drawing/2014/main" id="{7E0B8381-7D70-E074-BFC0-CE0C73883301}"/>
              </a:ext>
            </a:extLst>
          </p:cNvPr>
          <p:cNvCxnSpPr>
            <a:cxnSpLocks/>
          </p:cNvCxnSpPr>
          <p:nvPr/>
        </p:nvCxnSpPr>
        <p:spPr>
          <a:xfrm>
            <a:off x="2719243" y="3659776"/>
            <a:ext cx="0" cy="4389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ttore 2 14">
            <a:extLst>
              <a:ext uri="{FF2B5EF4-FFF2-40B4-BE49-F238E27FC236}">
                <a16:creationId xmlns:a16="http://schemas.microsoft.com/office/drawing/2014/main" id="{C4486F76-9C1C-4C84-4983-5E20873A47CA}"/>
              </a:ext>
            </a:extLst>
          </p:cNvPr>
          <p:cNvCxnSpPr>
            <a:cxnSpLocks/>
          </p:cNvCxnSpPr>
          <p:nvPr/>
        </p:nvCxnSpPr>
        <p:spPr>
          <a:xfrm>
            <a:off x="2710099" y="4607854"/>
            <a:ext cx="0" cy="4389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ttore a gomito 16">
            <a:extLst>
              <a:ext uri="{FF2B5EF4-FFF2-40B4-BE49-F238E27FC236}">
                <a16:creationId xmlns:a16="http://schemas.microsoft.com/office/drawing/2014/main" id="{3E66E1CF-1839-E853-BC51-8C1B73914C1B}"/>
              </a:ext>
            </a:extLst>
          </p:cNvPr>
          <p:cNvCxnSpPr>
            <a:cxnSpLocks/>
          </p:cNvCxnSpPr>
          <p:nvPr/>
        </p:nvCxnSpPr>
        <p:spPr>
          <a:xfrm flipV="1">
            <a:off x="4370473" y="3760359"/>
            <a:ext cx="1551306" cy="1504987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ttore diritto 17">
            <a:extLst>
              <a:ext uri="{FF2B5EF4-FFF2-40B4-BE49-F238E27FC236}">
                <a16:creationId xmlns:a16="http://schemas.microsoft.com/office/drawing/2014/main" id="{957FEDCC-6BE4-AF5A-EE42-B1D591D17E32}"/>
              </a:ext>
            </a:extLst>
          </p:cNvPr>
          <p:cNvCxnSpPr>
            <a:cxnSpLocks/>
          </p:cNvCxnSpPr>
          <p:nvPr/>
        </p:nvCxnSpPr>
        <p:spPr>
          <a:xfrm flipV="1">
            <a:off x="5920074" y="3271710"/>
            <a:ext cx="0" cy="103815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EC07B89B-CE7C-B921-4688-185A06F8E498}"/>
              </a:ext>
            </a:extLst>
          </p:cNvPr>
          <p:cNvCxnSpPr/>
          <p:nvPr/>
        </p:nvCxnSpPr>
        <p:spPr>
          <a:xfrm>
            <a:off x="5920074" y="3271710"/>
            <a:ext cx="5212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ttore 2 19">
            <a:extLst>
              <a:ext uri="{FF2B5EF4-FFF2-40B4-BE49-F238E27FC236}">
                <a16:creationId xmlns:a16="http://schemas.microsoft.com/office/drawing/2014/main" id="{C5051BAE-D2C8-2C7C-1C95-7210FFD0B1B8}"/>
              </a:ext>
            </a:extLst>
          </p:cNvPr>
          <p:cNvCxnSpPr/>
          <p:nvPr/>
        </p:nvCxnSpPr>
        <p:spPr>
          <a:xfrm>
            <a:off x="5920074" y="4309869"/>
            <a:ext cx="5212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ttore 2 20">
            <a:extLst>
              <a:ext uri="{FF2B5EF4-FFF2-40B4-BE49-F238E27FC236}">
                <a16:creationId xmlns:a16="http://schemas.microsoft.com/office/drawing/2014/main" id="{31243CA2-5FFA-EE3E-888D-6A16ACFA3314}"/>
              </a:ext>
            </a:extLst>
          </p:cNvPr>
          <p:cNvCxnSpPr/>
          <p:nvPr/>
        </p:nvCxnSpPr>
        <p:spPr>
          <a:xfrm>
            <a:off x="8962126" y="4139567"/>
            <a:ext cx="5212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F9CB73FC-3B10-31EC-2A6B-8D84829C838D}"/>
              </a:ext>
            </a:extLst>
          </p:cNvPr>
          <p:cNvCxnSpPr/>
          <p:nvPr/>
        </p:nvCxnSpPr>
        <p:spPr>
          <a:xfrm>
            <a:off x="8991444" y="3087146"/>
            <a:ext cx="5212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BD4CC5E6-C081-AB6B-B80C-D8B17DA02C6C}"/>
              </a:ext>
            </a:extLst>
          </p:cNvPr>
          <p:cNvSpPr txBox="1"/>
          <p:nvPr/>
        </p:nvSpPr>
        <p:spPr>
          <a:xfrm>
            <a:off x="6180678" y="5863244"/>
            <a:ext cx="50308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>
                <a:solidFill>
                  <a:srgbClr val="FF0000"/>
                </a:solidFill>
              </a:rPr>
              <a:t>Should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we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consider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this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algorithm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int</a:t>
            </a:r>
            <a:r>
              <a:rPr lang="it-IT" dirty="0">
                <a:solidFill>
                  <a:srgbClr val="FF0000"/>
                </a:solidFill>
              </a:rPr>
              <a:t> the survey?</a:t>
            </a:r>
          </a:p>
        </p:txBody>
      </p:sp>
    </p:spTree>
    <p:extLst>
      <p:ext uri="{BB962C8B-B14F-4D97-AF65-F5344CB8AC3E}">
        <p14:creationId xmlns:p14="http://schemas.microsoft.com/office/powerpoint/2010/main" val="15645476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F9258DD-06AA-841F-3034-B4A8DD176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Remote Monitoring of Human Vital Signs Based</a:t>
            </a:r>
            <a:br>
              <a:rPr lang="en-US" dirty="0"/>
            </a:br>
            <a:r>
              <a:rPr lang="en-US" dirty="0"/>
              <a:t>on 77-GHz mm-Wave FMCW Radar (</a:t>
            </a:r>
            <a:r>
              <a:rPr lang="it-IT" dirty="0" err="1"/>
              <a:t>Hongjia</a:t>
            </a:r>
            <a:r>
              <a:rPr lang="en-US" dirty="0"/>
              <a:t>)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6520321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2D9E8B4-AFD3-048D-FA36-F59699E29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Vital-sign monitoring and spatial tracking of multiple people using a contactless radar-based sensor</a:t>
            </a:r>
            <a:endParaRPr lang="it-IT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7B08258E-611C-0A8C-003D-EE82C25D848D}"/>
              </a:ext>
            </a:extLst>
          </p:cNvPr>
          <p:cNvSpPr txBox="1"/>
          <p:nvPr/>
        </p:nvSpPr>
        <p:spPr>
          <a:xfrm>
            <a:off x="2419605" y="1799510"/>
            <a:ext cx="12974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dirty="0"/>
              <a:t>First FFT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818272DC-2CCF-B9F1-EE90-7305DC84532E}"/>
              </a:ext>
            </a:extLst>
          </p:cNvPr>
          <p:cNvSpPr txBox="1"/>
          <p:nvPr/>
        </p:nvSpPr>
        <p:spPr>
          <a:xfrm>
            <a:off x="1599643" y="2604829"/>
            <a:ext cx="31971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dirty="0" err="1"/>
              <a:t>Identify</a:t>
            </a:r>
            <a:r>
              <a:rPr lang="it-IT" sz="2400" dirty="0"/>
              <a:t> </a:t>
            </a:r>
            <a:r>
              <a:rPr lang="it-IT" sz="2400" dirty="0" err="1"/>
              <a:t>peaks</a:t>
            </a:r>
            <a:r>
              <a:rPr lang="it-IT" sz="2400" dirty="0"/>
              <a:t> (people)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BD74E935-8643-B077-A241-CDA76052E76F}"/>
              </a:ext>
            </a:extLst>
          </p:cNvPr>
          <p:cNvSpPr txBox="1"/>
          <p:nvPr/>
        </p:nvSpPr>
        <p:spPr>
          <a:xfrm>
            <a:off x="518160" y="3576923"/>
            <a:ext cx="53601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dirty="0" err="1"/>
              <a:t>Extract</a:t>
            </a:r>
            <a:r>
              <a:rPr lang="it-IT" sz="2400" dirty="0"/>
              <a:t> </a:t>
            </a:r>
            <a:r>
              <a:rPr lang="it-IT" sz="2400" dirty="0" err="1"/>
              <a:t>phase</a:t>
            </a:r>
            <a:r>
              <a:rPr lang="it-IT" sz="2400" dirty="0"/>
              <a:t> with linear </a:t>
            </a:r>
            <a:r>
              <a:rPr lang="it-IT" sz="2400" dirty="0" err="1"/>
              <a:t>demodulation</a:t>
            </a:r>
            <a:endParaRPr lang="it-IT" sz="2400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308E9D5F-B414-D463-38B7-2368BCF6E5FF}"/>
              </a:ext>
            </a:extLst>
          </p:cNvPr>
          <p:cNvSpPr txBox="1"/>
          <p:nvPr/>
        </p:nvSpPr>
        <p:spPr>
          <a:xfrm>
            <a:off x="1637987" y="4559286"/>
            <a:ext cx="31588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/>
              <a:t>Attenuate </a:t>
            </a:r>
            <a:r>
              <a:rPr lang="it-IT" sz="2400" dirty="0" err="1"/>
              <a:t>artifacts</a:t>
            </a:r>
            <a:endParaRPr lang="it-IT" sz="2400" dirty="0"/>
          </a:p>
        </p:txBody>
      </p: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A05D5AD2-FB56-8DB5-5C4B-600AB194CCED}"/>
              </a:ext>
            </a:extLst>
          </p:cNvPr>
          <p:cNvCxnSpPr>
            <a:cxnSpLocks/>
          </p:cNvCxnSpPr>
          <p:nvPr/>
        </p:nvCxnSpPr>
        <p:spPr>
          <a:xfrm>
            <a:off x="3068341" y="2221491"/>
            <a:ext cx="0" cy="4389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ECE33539-2C9F-8521-1799-9799C3A95E12}"/>
              </a:ext>
            </a:extLst>
          </p:cNvPr>
          <p:cNvCxnSpPr>
            <a:cxnSpLocks/>
          </p:cNvCxnSpPr>
          <p:nvPr/>
        </p:nvCxnSpPr>
        <p:spPr>
          <a:xfrm>
            <a:off x="3068342" y="3145480"/>
            <a:ext cx="0" cy="4389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90CC540E-9B77-DB0C-F3E9-BDFC0D5B6F61}"/>
              </a:ext>
            </a:extLst>
          </p:cNvPr>
          <p:cNvCxnSpPr>
            <a:cxnSpLocks/>
          </p:cNvCxnSpPr>
          <p:nvPr/>
        </p:nvCxnSpPr>
        <p:spPr>
          <a:xfrm>
            <a:off x="3059198" y="4093558"/>
            <a:ext cx="0" cy="4389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DD6DEF0A-7DD7-FBC5-D604-302860EC04F9}"/>
              </a:ext>
            </a:extLst>
          </p:cNvPr>
          <p:cNvSpPr txBox="1"/>
          <p:nvPr/>
        </p:nvSpPr>
        <p:spPr>
          <a:xfrm>
            <a:off x="1675024" y="5460057"/>
            <a:ext cx="278663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400" dirty="0" err="1"/>
              <a:t>Wavelet</a:t>
            </a:r>
            <a:r>
              <a:rPr lang="it-IT" sz="2400" dirty="0"/>
              <a:t> </a:t>
            </a:r>
            <a:r>
              <a:rPr lang="it-IT" sz="2400" dirty="0" err="1"/>
              <a:t>separation</a:t>
            </a:r>
            <a:r>
              <a:rPr lang="it-IT" sz="2400" dirty="0"/>
              <a:t> with sliding window</a:t>
            </a:r>
          </a:p>
        </p:txBody>
      </p: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BEDE9550-9AC3-8F3F-088F-82F50E7F2AA7}"/>
              </a:ext>
            </a:extLst>
          </p:cNvPr>
          <p:cNvCxnSpPr>
            <a:cxnSpLocks/>
          </p:cNvCxnSpPr>
          <p:nvPr/>
        </p:nvCxnSpPr>
        <p:spPr>
          <a:xfrm>
            <a:off x="3050481" y="5087206"/>
            <a:ext cx="0" cy="4389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ttore diritto 14">
            <a:extLst>
              <a:ext uri="{FF2B5EF4-FFF2-40B4-BE49-F238E27FC236}">
                <a16:creationId xmlns:a16="http://schemas.microsoft.com/office/drawing/2014/main" id="{49AF2EC6-8F57-1A41-3356-3DAEACB0822F}"/>
              </a:ext>
            </a:extLst>
          </p:cNvPr>
          <p:cNvCxnSpPr>
            <a:cxnSpLocks/>
          </p:cNvCxnSpPr>
          <p:nvPr/>
        </p:nvCxnSpPr>
        <p:spPr>
          <a:xfrm>
            <a:off x="4461656" y="5895648"/>
            <a:ext cx="84124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ttore diritto 17">
            <a:extLst>
              <a:ext uri="{FF2B5EF4-FFF2-40B4-BE49-F238E27FC236}">
                <a16:creationId xmlns:a16="http://schemas.microsoft.com/office/drawing/2014/main" id="{726B8298-A3DF-4E70-740F-AC39469D4CFF}"/>
              </a:ext>
            </a:extLst>
          </p:cNvPr>
          <p:cNvCxnSpPr>
            <a:cxnSpLocks/>
          </p:cNvCxnSpPr>
          <p:nvPr/>
        </p:nvCxnSpPr>
        <p:spPr>
          <a:xfrm>
            <a:off x="5302904" y="5533209"/>
            <a:ext cx="0" cy="74045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ttore 2 22">
            <a:extLst>
              <a:ext uri="{FF2B5EF4-FFF2-40B4-BE49-F238E27FC236}">
                <a16:creationId xmlns:a16="http://schemas.microsoft.com/office/drawing/2014/main" id="{9C0B996F-263B-0F59-A455-9BCE60A44F51}"/>
              </a:ext>
            </a:extLst>
          </p:cNvPr>
          <p:cNvCxnSpPr/>
          <p:nvPr/>
        </p:nvCxnSpPr>
        <p:spPr>
          <a:xfrm>
            <a:off x="5302904" y="5526118"/>
            <a:ext cx="57607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0628AEC3-5CF0-95EA-F4ED-668BEC0FA24F}"/>
              </a:ext>
            </a:extLst>
          </p:cNvPr>
          <p:cNvCxnSpPr/>
          <p:nvPr/>
        </p:nvCxnSpPr>
        <p:spPr>
          <a:xfrm>
            <a:off x="5302904" y="6273668"/>
            <a:ext cx="57607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D68147F1-C946-0E03-7F50-AF888A39D7B5}"/>
              </a:ext>
            </a:extLst>
          </p:cNvPr>
          <p:cNvSpPr txBox="1"/>
          <p:nvPr/>
        </p:nvSpPr>
        <p:spPr>
          <a:xfrm>
            <a:off x="5878282" y="5240202"/>
            <a:ext cx="60909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dirty="0" err="1"/>
              <a:t>Average</a:t>
            </a:r>
            <a:r>
              <a:rPr lang="it-IT" sz="2400" dirty="0"/>
              <a:t> windows and </a:t>
            </a:r>
            <a:r>
              <a:rPr lang="it-IT" sz="2400" dirty="0" err="1"/>
              <a:t>calculate</a:t>
            </a:r>
            <a:r>
              <a:rPr lang="it-IT" sz="2400" dirty="0"/>
              <a:t> BR with FFT</a:t>
            </a: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F66D8F0A-2108-469D-0700-73AF3DFB2430}"/>
              </a:ext>
            </a:extLst>
          </p:cNvPr>
          <p:cNvSpPr txBox="1"/>
          <p:nvPr/>
        </p:nvSpPr>
        <p:spPr>
          <a:xfrm>
            <a:off x="5878282" y="6031210"/>
            <a:ext cx="59611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dirty="0" err="1"/>
              <a:t>Average</a:t>
            </a:r>
            <a:r>
              <a:rPr lang="it-IT" sz="2400" dirty="0"/>
              <a:t> windows and </a:t>
            </a:r>
            <a:r>
              <a:rPr lang="it-IT" sz="2400" dirty="0" err="1"/>
              <a:t>calculate</a:t>
            </a:r>
            <a:r>
              <a:rPr lang="it-IT" sz="2400" dirty="0"/>
              <a:t> HR with FFT</a:t>
            </a:r>
          </a:p>
        </p:txBody>
      </p:sp>
    </p:spTree>
    <p:extLst>
      <p:ext uri="{BB962C8B-B14F-4D97-AF65-F5344CB8AC3E}">
        <p14:creationId xmlns:p14="http://schemas.microsoft.com/office/powerpoint/2010/main" val="297173338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183</Words>
  <Application>Microsoft Office PowerPoint</Application>
  <PresentationFormat>Widescreen</PresentationFormat>
  <Paragraphs>37</Paragraphs>
  <Slides>7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Tema di Office</vt:lpstr>
      <vt:lpstr>Algorithms for the survey</vt:lpstr>
      <vt:lpstr> Detection of vital signs based on millimeter wave radar </vt:lpstr>
      <vt:lpstr>FMCW Millimeter-Wave Radar-Based Remote Monitoring of Vital Signs in Multiple Subjects</vt:lpstr>
      <vt:lpstr>A high precision vital signs detection method based on millimeter wave radar</vt:lpstr>
      <vt:lpstr>RF Vital Sign Sensing under Free Body Movement (only static)</vt:lpstr>
      <vt:lpstr>Remote Monitoring of Human Vital Signs Based on 77-GHz mm-Wave FMCW Radar (Hongjia)</vt:lpstr>
      <vt:lpstr>Vital-sign monitoring and spatial tracking of multiple people using a contactless radar-based sensor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christian farina</dc:creator>
  <cp:lastModifiedBy>christian farina</cp:lastModifiedBy>
  <cp:revision>3</cp:revision>
  <dcterms:created xsi:type="dcterms:W3CDTF">2025-12-02T09:47:30Z</dcterms:created>
  <dcterms:modified xsi:type="dcterms:W3CDTF">2025-12-09T16:33:06Z</dcterms:modified>
</cp:coreProperties>
</file>